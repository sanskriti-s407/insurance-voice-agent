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11" Type="http://schemas.openxmlformats.org/officeDocument/2006/relationships/image" Target="../media/image10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26.png"/><Relationship Id="rId5" Type="http://schemas.openxmlformats.org/officeDocument/2006/relationships/image" Target="../media/image1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11" Type="http://schemas.openxmlformats.org/officeDocument/2006/relationships/image" Target="../media/image23.png"/><Relationship Id="rId10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Relationship Id="rId8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2.png"/><Relationship Id="rId11" Type="http://schemas.openxmlformats.org/officeDocument/2006/relationships/image" Target="../media/image36.png"/><Relationship Id="rId22" Type="http://schemas.openxmlformats.org/officeDocument/2006/relationships/image" Target="../media/image39.png"/><Relationship Id="rId10" Type="http://schemas.openxmlformats.org/officeDocument/2006/relationships/image" Target="../media/image1.png"/><Relationship Id="rId21" Type="http://schemas.openxmlformats.org/officeDocument/2006/relationships/image" Target="../media/image38.png"/><Relationship Id="rId13" Type="http://schemas.openxmlformats.org/officeDocument/2006/relationships/image" Target="../media/image31.png"/><Relationship Id="rId12" Type="http://schemas.openxmlformats.org/officeDocument/2006/relationships/image" Target="../media/image40.png"/><Relationship Id="rId23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Relationship Id="rId15" Type="http://schemas.openxmlformats.org/officeDocument/2006/relationships/image" Target="../media/image35.png"/><Relationship Id="rId14" Type="http://schemas.openxmlformats.org/officeDocument/2006/relationships/image" Target="../media/image30.png"/><Relationship Id="rId17" Type="http://schemas.openxmlformats.org/officeDocument/2006/relationships/image" Target="../media/image48.png"/><Relationship Id="rId16" Type="http://schemas.openxmlformats.org/officeDocument/2006/relationships/image" Target="../media/image37.png"/><Relationship Id="rId5" Type="http://schemas.openxmlformats.org/officeDocument/2006/relationships/image" Target="../media/image43.png"/><Relationship Id="rId19" Type="http://schemas.openxmlformats.org/officeDocument/2006/relationships/image" Target="../media/image32.png"/><Relationship Id="rId6" Type="http://schemas.openxmlformats.org/officeDocument/2006/relationships/image" Target="../media/image29.png"/><Relationship Id="rId18" Type="http://schemas.openxmlformats.org/officeDocument/2006/relationships/image" Target="../media/image33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47.png"/><Relationship Id="rId13" Type="http://schemas.openxmlformats.org/officeDocument/2006/relationships/image" Target="../media/image55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54.png"/><Relationship Id="rId15" Type="http://schemas.openxmlformats.org/officeDocument/2006/relationships/image" Target="../media/image53.png"/><Relationship Id="rId14" Type="http://schemas.openxmlformats.org/officeDocument/2006/relationships/image" Target="../media/image67.png"/><Relationship Id="rId16" Type="http://schemas.openxmlformats.org/officeDocument/2006/relationships/image" Target="../media/image69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58.png"/><Relationship Id="rId13" Type="http://schemas.openxmlformats.org/officeDocument/2006/relationships/image" Target="../media/image62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8.png"/><Relationship Id="rId9" Type="http://schemas.openxmlformats.org/officeDocument/2006/relationships/image" Target="../media/image1.png"/><Relationship Id="rId15" Type="http://schemas.openxmlformats.org/officeDocument/2006/relationships/image" Target="../media/image63.png"/><Relationship Id="rId14" Type="http://schemas.openxmlformats.org/officeDocument/2006/relationships/image" Target="../media/image65.png"/><Relationship Id="rId17" Type="http://schemas.openxmlformats.org/officeDocument/2006/relationships/image" Target="../media/image70.png"/><Relationship Id="rId16" Type="http://schemas.openxmlformats.org/officeDocument/2006/relationships/image" Target="../media/image66.png"/><Relationship Id="rId5" Type="http://schemas.openxmlformats.org/officeDocument/2006/relationships/image" Target="../media/image60.png"/><Relationship Id="rId19" Type="http://schemas.openxmlformats.org/officeDocument/2006/relationships/image" Target="../media/image81.png"/><Relationship Id="rId6" Type="http://schemas.openxmlformats.org/officeDocument/2006/relationships/image" Target="../media/image57.png"/><Relationship Id="rId18" Type="http://schemas.openxmlformats.org/officeDocument/2006/relationships/image" Target="../media/image75.png"/><Relationship Id="rId7" Type="http://schemas.openxmlformats.org/officeDocument/2006/relationships/image" Target="../media/image64.png"/><Relationship Id="rId8" Type="http://schemas.openxmlformats.org/officeDocument/2006/relationships/image" Target="../media/image6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png"/><Relationship Id="rId10" Type="http://schemas.openxmlformats.org/officeDocument/2006/relationships/image" Target="../media/image1.png"/><Relationship Id="rId13" Type="http://schemas.openxmlformats.org/officeDocument/2006/relationships/image" Target="../media/image78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2.png"/><Relationship Id="rId9" Type="http://schemas.openxmlformats.org/officeDocument/2006/relationships/image" Target="../media/image77.png"/><Relationship Id="rId15" Type="http://schemas.openxmlformats.org/officeDocument/2006/relationships/image" Target="../media/image87.png"/><Relationship Id="rId14" Type="http://schemas.openxmlformats.org/officeDocument/2006/relationships/image" Target="../media/image93.png"/><Relationship Id="rId17" Type="http://schemas.openxmlformats.org/officeDocument/2006/relationships/image" Target="../media/image80.png"/><Relationship Id="rId16" Type="http://schemas.openxmlformats.org/officeDocument/2006/relationships/image" Target="../media/image83.png"/><Relationship Id="rId5" Type="http://schemas.openxmlformats.org/officeDocument/2006/relationships/image" Target="../media/image7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2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97.png"/><Relationship Id="rId11" Type="http://schemas.openxmlformats.org/officeDocument/2006/relationships/image" Target="../media/image92.png"/><Relationship Id="rId10" Type="http://schemas.openxmlformats.org/officeDocument/2006/relationships/image" Target="../media/image88.png"/><Relationship Id="rId13" Type="http://schemas.openxmlformats.org/officeDocument/2006/relationships/image" Target="../media/image96.png"/><Relationship Id="rId1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89.png"/><Relationship Id="rId15" Type="http://schemas.openxmlformats.org/officeDocument/2006/relationships/image" Target="../media/image91.png"/><Relationship Id="rId14" Type="http://schemas.openxmlformats.org/officeDocument/2006/relationships/image" Target="../media/image105.png"/><Relationship Id="rId17" Type="http://schemas.openxmlformats.org/officeDocument/2006/relationships/image" Target="../media/image109.png"/><Relationship Id="rId16" Type="http://schemas.openxmlformats.org/officeDocument/2006/relationships/image" Target="../media/image95.png"/><Relationship Id="rId5" Type="http://schemas.openxmlformats.org/officeDocument/2006/relationships/image" Target="../media/image86.png"/><Relationship Id="rId19" Type="http://schemas.openxmlformats.org/officeDocument/2006/relationships/image" Target="../media/image99.png"/><Relationship Id="rId6" Type="http://schemas.openxmlformats.org/officeDocument/2006/relationships/image" Target="../media/image85.png"/><Relationship Id="rId18" Type="http://schemas.openxmlformats.org/officeDocument/2006/relationships/image" Target="../media/image101.png"/><Relationship Id="rId7" Type="http://schemas.openxmlformats.org/officeDocument/2006/relationships/image" Target="../media/image84.png"/><Relationship Id="rId8" Type="http://schemas.openxmlformats.org/officeDocument/2006/relationships/image" Target="../media/image9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6.png"/><Relationship Id="rId10" Type="http://schemas.openxmlformats.org/officeDocument/2006/relationships/image" Target="../media/image102.png"/><Relationship Id="rId13" Type="http://schemas.openxmlformats.org/officeDocument/2006/relationships/image" Target="../media/image113.png"/><Relationship Id="rId1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Relationship Id="rId4" Type="http://schemas.openxmlformats.org/officeDocument/2006/relationships/image" Target="../media/image122.png"/><Relationship Id="rId9" Type="http://schemas.openxmlformats.org/officeDocument/2006/relationships/image" Target="../media/image107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7.png"/><Relationship Id="rId11" Type="http://schemas.openxmlformats.org/officeDocument/2006/relationships/image" Target="../media/image114.png"/><Relationship Id="rId22" Type="http://schemas.openxmlformats.org/officeDocument/2006/relationships/image" Target="../media/image125.png"/><Relationship Id="rId10" Type="http://schemas.openxmlformats.org/officeDocument/2006/relationships/image" Target="../media/image115.png"/><Relationship Id="rId21" Type="http://schemas.openxmlformats.org/officeDocument/2006/relationships/image" Target="../media/image132.png"/><Relationship Id="rId13" Type="http://schemas.openxmlformats.org/officeDocument/2006/relationships/image" Target="../media/image119.png"/><Relationship Id="rId12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8.png"/><Relationship Id="rId9" Type="http://schemas.openxmlformats.org/officeDocument/2006/relationships/image" Target="../media/image1.png"/><Relationship Id="rId15" Type="http://schemas.openxmlformats.org/officeDocument/2006/relationships/image" Target="../media/image116.png"/><Relationship Id="rId14" Type="http://schemas.openxmlformats.org/officeDocument/2006/relationships/image" Target="../media/image121.png"/><Relationship Id="rId17" Type="http://schemas.openxmlformats.org/officeDocument/2006/relationships/image" Target="../media/image133.png"/><Relationship Id="rId16" Type="http://schemas.openxmlformats.org/officeDocument/2006/relationships/image" Target="../media/image118.png"/><Relationship Id="rId5" Type="http://schemas.openxmlformats.org/officeDocument/2006/relationships/image" Target="../media/image111.png"/><Relationship Id="rId19" Type="http://schemas.openxmlformats.org/officeDocument/2006/relationships/image" Target="../media/image123.png"/><Relationship Id="rId6" Type="http://schemas.openxmlformats.org/officeDocument/2006/relationships/image" Target="../media/image110.png"/><Relationship Id="rId18" Type="http://schemas.openxmlformats.org/officeDocument/2006/relationships/image" Target="../media/image120.png"/><Relationship Id="rId7" Type="http://schemas.openxmlformats.org/officeDocument/2006/relationships/image" Target="../media/image112.png"/><Relationship Id="rId8" Type="http://schemas.openxmlformats.org/officeDocument/2006/relationships/image" Target="../media/image117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8.png"/><Relationship Id="rId10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31.png"/><Relationship Id="rId9" Type="http://schemas.openxmlformats.org/officeDocument/2006/relationships/image" Target="../media/image129.png"/><Relationship Id="rId5" Type="http://schemas.openxmlformats.org/officeDocument/2006/relationships/image" Target="../media/image124.png"/><Relationship Id="rId6" Type="http://schemas.openxmlformats.org/officeDocument/2006/relationships/image" Target="../media/image1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6.png"/><Relationship Id="rId5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41800"/>
            <a:ext cx="4898528" cy="741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1528" y="1143000"/>
            <a:ext cx="5388471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1475035"/>
            <a:ext cx="489852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EXL INTERNSHIP WEEK 1 DELIVERABLE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1861691"/>
            <a:ext cx="5143455" cy="177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 Conversational Voice Agent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826519"/>
            <a:ext cx="489852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 &amp; Happy Path Implementation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937075"/>
            <a:ext cx="2567880" cy="44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Presented By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Name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520380" y="4937075"/>
            <a:ext cx="2140148" cy="44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</a:t>
            </a: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EXL Internship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1053" y="1152525"/>
            <a:ext cx="5369421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69876"/>
            <a:ext cx="6115050" cy="1540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67379" y="650527"/>
            <a:ext cx="962620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6042719"/>
            <a:ext cx="242723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EXL Insurance Voice Agent Project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2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3300" y="2485280"/>
            <a:ext cx="4076700" cy="229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038225" y="2098476"/>
            <a:ext cx="58907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Project Objective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38225" y="2450901"/>
            <a:ext cx="56102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an AI-powered conversational insurance voice agent that securely automates customer interactions, authenticates users, detects intents, and retrieves critical information seamlessly through backend APIs.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2975" y="38299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504950" y="3925192"/>
            <a:ext cx="12166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Call Volume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71937" y="382994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4633912" y="3925192"/>
            <a:ext cx="1910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Long Customer Wait Times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" y="477291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504950" y="4753867"/>
            <a:ext cx="2062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Claim &amp; Policy Processing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71937" y="477291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633912" y="4753867"/>
            <a:ext cx="2062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Suboptimal Customer Experience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Overview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3300" y="1371600"/>
            <a:ext cx="40767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9441" y="650527"/>
            <a:ext cx="1370558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6042719"/>
            <a:ext cx="270792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Progress Tracking • Happy Path Phase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3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810000" y="1514475"/>
            <a:ext cx="19050" cy="4000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696200" y="1714500"/>
            <a:ext cx="35604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Completion Checklist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7696200" y="2095500"/>
            <a:ext cx="33909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190625" y="1371600"/>
            <a:ext cx="59707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 Business Use Case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90625" y="1581150"/>
            <a:ext cx="5686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Identify core metrics, insurance pain points, and target voice processes.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90625" y="2649140"/>
            <a:ext cx="59707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Core Intents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190625" y="2858690"/>
            <a:ext cx="5686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 queries to policy inquiries, claims tracking, and common journeys.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90625" y="3926681"/>
            <a:ext cx="59707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Happy Path Conversation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190625" y="4136231"/>
            <a:ext cx="5686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Construct clear, frictionless logic mapping optimal interactions.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190625" y="5204221"/>
            <a:ext cx="597074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 Authentication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190625" y="5413771"/>
            <a:ext cx="5686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Enforce robust validation logic covering customer authentication flows.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200" y="244971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8143875" y="2480220"/>
            <a:ext cx="231948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Use Case Understood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96200" y="304204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8143875" y="3072556"/>
            <a:ext cx="200114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Intents Defined &amp; Mapped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200" y="363438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8143875" y="3664892"/>
            <a:ext cx="281567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Authentication Mechanism Designed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96200" y="422671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8143875" y="4257228"/>
            <a:ext cx="2440632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Mock APIs Created &amp; Integrated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96200" y="481905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8143875" y="4849564"/>
            <a:ext cx="2117973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Happy Path Flow Functional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1 Scope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3886200" y="152206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3A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886200" y="279960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3A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3886200" y="4077146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3A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886200" y="5354687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A3A3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50350" y="650527"/>
            <a:ext cx="1479649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/>
          <p:nvPr/>
        </p:nvSpPr>
        <p:spPr>
          <a:xfrm>
            <a:off x="762000" y="6042719"/>
            <a:ext cx="300781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Space Modern Interface Architecture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4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2159049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032349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905648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7778948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9652248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0425" y="3281362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762000" y="3767137"/>
            <a:ext cx="1301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 Customer</a:t>
            </a:r>
            <a:endParaRPr/>
          </a:p>
        </p:txBody>
      </p:sp>
      <p:pic>
        <p:nvPicPr>
          <p:cNvPr descr="image.png" id="169" name="Google Shape;16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1812" y="317480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2635299" y="3660576"/>
            <a:ext cx="13017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 CX Agent Studio</a:t>
            </a:r>
            <a:endParaRPr/>
          </a:p>
        </p:txBody>
      </p:sp>
      <p:pic>
        <p:nvPicPr>
          <p:cNvPr descr="image.png" id="171" name="Google Shape;17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87974" y="32813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4508599" y="3767137"/>
            <a:ext cx="1301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 Auth Layer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61274" y="317480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6381898" y="3660576"/>
            <a:ext cx="13017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🔀 Intent Routing</a:t>
            </a:r>
            <a:endParaRPr/>
          </a:p>
        </p:txBody>
      </p:sp>
      <p:pic>
        <p:nvPicPr>
          <p:cNvPr descr="image.png" id="175" name="Google Shape;17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91711" y="328136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8255198" y="3767137"/>
            <a:ext cx="1301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 Backend APIs</a:t>
            </a:r>
            <a:endParaRPr/>
          </a:p>
        </p:txBody>
      </p:sp>
      <p:pic>
        <p:nvPicPr>
          <p:cNvPr descr="image.png" id="177" name="Google Shape;17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607873" y="32813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10128498" y="3767137"/>
            <a:ext cx="13017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💬 Response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High-Level Architecture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97472"/>
            <a:ext cx="33971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2397472"/>
            <a:ext cx="3397299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2397472"/>
            <a:ext cx="33971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654772"/>
            <a:ext cx="33971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7275" y="3654772"/>
            <a:ext cx="3397299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32700" y="3654772"/>
            <a:ext cx="33971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62207" y="650527"/>
            <a:ext cx="1867792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762000" y="6042719"/>
            <a:ext cx="606176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These intents represent the primary customer journeys implemented during Week 1.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5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264512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44925" y="264512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80350" y="264512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9650" y="390242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44925" y="390242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80350" y="390242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85862" y="2792759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1724025" y="2665065"/>
            <a:ext cx="16748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 Policy Inquiry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724025" y="2950815"/>
            <a:ext cx="159513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View coverage lists &amp; limits.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821138" y="2792759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5359300" y="2693640"/>
            <a:ext cx="16231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📄 Claim Status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5359300" y="2922240"/>
            <a:ext cx="154587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Instant real-time progress.</a:t>
            </a:r>
            <a:endParaRPr/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413700" y="279275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8994725" y="2693640"/>
            <a:ext cx="173068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💰 Benefits Info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8994725" y="2922240"/>
            <a:ext cx="1648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Co-pays &amp; deductible status.</a:t>
            </a:r>
            <a:endParaRPr/>
          </a:p>
        </p:txBody>
      </p:sp>
      <p:pic>
        <p:nvPicPr>
          <p:cNvPr descr="image.png" id="211" name="Google Shape;211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57287" y="405005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1724025" y="3950940"/>
            <a:ext cx="17899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 Policy Renewal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1724025" y="4179540"/>
            <a:ext cx="170467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Payment processing triggers.</a:t>
            </a:r>
            <a:endParaRPr/>
          </a:p>
        </p:txBody>
      </p:sp>
      <p:pic>
        <p:nvPicPr>
          <p:cNvPr descr="image.png" id="214" name="Google Shape;214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92563" y="405005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5359300" y="3950940"/>
            <a:ext cx="1884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📞 Escalation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5359300" y="4179540"/>
            <a:ext cx="1794867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Transfer cleanly to live experts.</a:t>
            </a:r>
            <a:endParaRPr/>
          </a:p>
        </p:txBody>
      </p:sp>
      <p:pic>
        <p:nvPicPr>
          <p:cNvPr descr="image.png" id="217" name="Google Shape;217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399412" y="405005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8994725" y="3950940"/>
            <a:ext cx="1654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 Authentication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8994725" y="4179540"/>
            <a:ext cx="157564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user validation.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Customer Intents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5734" y="650527"/>
            <a:ext cx="1744265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762000" y="6042719"/>
            <a:ext cx="384586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Optimal Conversation Workflow Flowchart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6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2013793" y="3621285"/>
            <a:ext cx="2381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3598961" y="3621285"/>
            <a:ext cx="2381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5184130" y="3621285"/>
            <a:ext cx="2381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769298" y="3621285"/>
            <a:ext cx="2381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8354466" y="3621285"/>
            <a:ext cx="2381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9939635" y="3621285"/>
            <a:ext cx="23812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1056084" y="3955256"/>
            <a:ext cx="568225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Start Call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2360414" y="3955256"/>
            <a:ext cx="1130051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Authenticate User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4094112" y="3955256"/>
            <a:ext cx="832991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 Intent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674965" y="3955256"/>
            <a:ext cx="841623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 Service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7369224" y="3955256"/>
            <a:ext cx="623441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API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8909149" y="3955256"/>
            <a:ext cx="713928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Return Info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10515302" y="3955256"/>
            <a:ext cx="671810" cy="16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Completed</a:t>
            </a:r>
            <a:endParaRPr/>
          </a:p>
        </p:txBody>
      </p:sp>
      <p:pic>
        <p:nvPicPr>
          <p:cNvPr descr="image.png" id="244" name="Google Shape;2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5897" y="336470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96778" y="3364706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1946" y="3364706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81402" y="336470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80858" y="3364706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23164" y="336470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736907" y="336470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Happy Path Conversation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6822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591990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77158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62327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347495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932664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517832" y="3145631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712" y="1630709"/>
            <a:ext cx="4586287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49067"/>
            <a:ext cx="560546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3822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07374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76520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33744" y="650527"/>
            <a:ext cx="996255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9"/>
          <p:cNvSpPr txBox="1"/>
          <p:nvPr/>
        </p:nvSpPr>
        <p:spPr>
          <a:xfrm>
            <a:off x="762000" y="6042719"/>
            <a:ext cx="2798564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Multi-tier Verification Gateway Protocol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7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7586662" y="2011709"/>
            <a:ext cx="3635454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Features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7224712" y="2440334"/>
            <a:ext cx="38242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95400" y="2279451"/>
            <a:ext cx="5072062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95400" y="2970907"/>
            <a:ext cx="5072062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95400" y="3662362"/>
            <a:ext cx="5072062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49822" y="4639567"/>
            <a:ext cx="1619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24712" y="2030759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7519987" y="3703587"/>
            <a:ext cx="3529012" cy="243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Multi-step Customer Identity Verification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7519987" y="4137868"/>
            <a:ext cx="3529012" cy="243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Service Level Validation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7519987" y="4572148"/>
            <a:ext cx="3529012" cy="243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End-to-End Customer Access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7519987" y="5006429"/>
            <a:ext cx="3529012" cy="243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Protect &amp; Prevent Unauthorized Requests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1533525" y="2431851"/>
            <a:ext cx="207377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Phone Number Verification</a:t>
            </a:r>
            <a:endParaRPr/>
          </a:p>
        </p:txBody>
      </p:sp>
      <p:pic>
        <p:nvPicPr>
          <p:cNvPr descr="image.png" id="286" name="Google Shape;286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015037" y="2477541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 txBox="1"/>
          <p:nvPr/>
        </p:nvSpPr>
        <p:spPr>
          <a:xfrm>
            <a:off x="1533525" y="3123307"/>
            <a:ext cx="1477714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Date of Birth Check</a:t>
            </a:r>
            <a:endParaRPr/>
          </a:p>
        </p:txBody>
      </p:sp>
      <p:pic>
        <p:nvPicPr>
          <p:cNvPr descr="image.png" id="288" name="Google Shape;288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95987" y="316899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1533525" y="3814762"/>
            <a:ext cx="2554634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Verification Question 1 (Dynamic)</a:t>
            </a:r>
            <a:endParaRPr/>
          </a:p>
        </p:txBody>
      </p:sp>
      <p:pic>
        <p:nvPicPr>
          <p:cNvPr descr="image.png" id="290" name="Google Shape;290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76937" y="386045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24712" y="373499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24712" y="416927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24712" y="460355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24712" y="503783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User Verification</a:t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94718"/>
            <a:ext cx="342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794718"/>
            <a:ext cx="342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1794718"/>
            <a:ext cx="342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630959"/>
            <a:ext cx="342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1500" y="3630959"/>
            <a:ext cx="342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0" y="3630959"/>
            <a:ext cx="3429000" cy="1645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08033" y="650527"/>
            <a:ext cx="1921966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0"/>
          <p:cNvSpPr txBox="1"/>
          <p:nvPr/>
        </p:nvSpPr>
        <p:spPr>
          <a:xfrm>
            <a:off x="762000" y="6042719"/>
            <a:ext cx="6345733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Mock APIs simulate backend services enabling complete flow testing prior to production.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8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2457450" y="1804244"/>
            <a:ext cx="38100" cy="1626689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0125" y="2032843"/>
            <a:ext cx="596651" cy="28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1000125" y="2429023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validateUser()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1000125" y="2714773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Validates inbound user identity against secure customer records.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6076950" y="1804244"/>
            <a:ext cx="38100" cy="1626689"/>
          </a:xfrm>
          <a:prstGeom prst="rect">
            <a:avLst/>
          </a:prstGeom>
          <a:solidFill>
            <a:srgbClr val="003B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7" name="Google Shape;317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19625" y="2032843"/>
            <a:ext cx="735657" cy="28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0"/>
          <p:cNvSpPr txBox="1"/>
          <p:nvPr/>
        </p:nvSpPr>
        <p:spPr>
          <a:xfrm>
            <a:off x="4619625" y="2429023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getPolicyDetails()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4619625" y="2714773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Retrieves coverage statements, premium metrics and limits.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9696450" y="1804244"/>
            <a:ext cx="38100" cy="1626689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39125" y="2032843"/>
            <a:ext cx="756344" cy="28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/>
        </p:nvSpPr>
        <p:spPr>
          <a:xfrm>
            <a:off x="8239125" y="2429023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getClaimsStatus()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8239125" y="2714773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Tracks processing milestones for customer claims.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2457450" y="3640485"/>
            <a:ext cx="38100" cy="1626689"/>
          </a:xfrm>
          <a:prstGeom prst="rect">
            <a:avLst/>
          </a:prstGeom>
          <a:solidFill>
            <a:srgbClr val="003B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5" name="Google Shape;325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0125" y="3869084"/>
            <a:ext cx="902791" cy="28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 txBox="1"/>
          <p:nvPr/>
        </p:nvSpPr>
        <p:spPr>
          <a:xfrm>
            <a:off x="1000125" y="4265265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getBenefitsInfo()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1000125" y="4551015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Checks standard plan deductibles and out-of-pocket rules.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6076950" y="3640485"/>
            <a:ext cx="38100" cy="1626689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19625" y="3869084"/>
            <a:ext cx="913507" cy="28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4619625" y="4265265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renewPolicy()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4619625" y="4551015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Processes recurring terms and accepts approval mandates.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9696450" y="3640485"/>
            <a:ext cx="38100" cy="1626689"/>
          </a:xfrm>
          <a:prstGeom prst="rect">
            <a:avLst/>
          </a:prstGeom>
          <a:solidFill>
            <a:srgbClr val="003B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39125" y="3869084"/>
            <a:ext cx="543073" cy="28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/>
        </p:nvSpPr>
        <p:spPr>
          <a:xfrm>
            <a:off x="8239125" y="4265265"/>
            <a:ext cx="295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createCase()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8239125" y="4551015"/>
            <a:ext cx="29527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Saves transcript and assigns urgent tasks for human agents.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Mock API Integration</a:t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73709"/>
            <a:ext cx="1266973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0473" y="2773709"/>
            <a:ext cx="147577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7753" y="2773709"/>
            <a:ext cx="1266973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227" y="2773709"/>
            <a:ext cx="1266973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4701" y="2773709"/>
            <a:ext cx="1266973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3175" y="2773709"/>
            <a:ext cx="1266973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34786" y="650527"/>
            <a:ext cx="995213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 txBox="1"/>
          <p:nvPr/>
        </p:nvSpPr>
        <p:spPr>
          <a:xfrm>
            <a:off x="762000" y="6042719"/>
            <a:ext cx="620003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status indicators represent completed and validated capabilities for Happy Path.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10961191" y="6042719"/>
            <a:ext cx="46880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9</a:t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2124223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4171503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6009977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7848451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9686925" y="3621434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8" name="Google Shape;35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85862" y="3021359"/>
            <a:ext cx="419100" cy="38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 txBox="1"/>
          <p:nvPr/>
        </p:nvSpPr>
        <p:spPr>
          <a:xfrm>
            <a:off x="923925" y="3505348"/>
            <a:ext cx="94312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Call</a:t>
            </a:r>
            <a:endParaRPr/>
          </a:p>
        </p:txBody>
      </p:sp>
      <p:pic>
        <p:nvPicPr>
          <p:cNvPr descr="image.png" id="360" name="Google Shape;360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09687" y="40691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28813" y="3021359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1"/>
          <p:cNvSpPr txBox="1"/>
          <p:nvPr/>
        </p:nvSpPr>
        <p:spPr>
          <a:xfrm>
            <a:off x="2762398" y="3642419"/>
            <a:ext cx="115192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Authentication</a:t>
            </a:r>
            <a:endParaRPr/>
          </a:p>
        </p:txBody>
      </p:sp>
      <p:pic>
        <p:nvPicPr>
          <p:cNvPr descr="image.png" id="363" name="Google Shape;36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52638" y="40691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71616" y="3021359"/>
            <a:ext cx="419100" cy="38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1"/>
          <p:cNvSpPr txBox="1"/>
          <p:nvPr/>
        </p:nvSpPr>
        <p:spPr>
          <a:xfrm>
            <a:off x="4809678" y="3505348"/>
            <a:ext cx="94312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Intent Detect</a:t>
            </a:r>
            <a:endParaRPr/>
          </a:p>
        </p:txBody>
      </p:sp>
      <p:pic>
        <p:nvPicPr>
          <p:cNvPr descr="image.png" id="366" name="Google Shape;366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95441" y="40691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10089" y="3021359"/>
            <a:ext cx="419100" cy="38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1"/>
          <p:cNvSpPr txBox="1"/>
          <p:nvPr/>
        </p:nvSpPr>
        <p:spPr>
          <a:xfrm>
            <a:off x="6648152" y="3505348"/>
            <a:ext cx="94312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Execution</a:t>
            </a:r>
            <a:endParaRPr/>
          </a:p>
        </p:txBody>
      </p:sp>
      <p:pic>
        <p:nvPicPr>
          <p:cNvPr descr="image.png" id="369" name="Google Shape;36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33914" y="40691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48563" y="3021359"/>
            <a:ext cx="419100" cy="38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1"/>
          <p:cNvSpPr txBox="1"/>
          <p:nvPr/>
        </p:nvSpPr>
        <p:spPr>
          <a:xfrm>
            <a:off x="8486626" y="3505348"/>
            <a:ext cx="94312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Voice Response</a:t>
            </a:r>
            <a:endParaRPr/>
          </a:p>
        </p:txBody>
      </p:sp>
      <p:pic>
        <p:nvPicPr>
          <p:cNvPr descr="image.png" id="372" name="Google Shape;372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872388" y="40691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87037" y="3021359"/>
            <a:ext cx="419100" cy="38873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1"/>
          <p:cNvSpPr txBox="1"/>
          <p:nvPr/>
        </p:nvSpPr>
        <p:spPr>
          <a:xfrm>
            <a:off x="10325100" y="3505348"/>
            <a:ext cx="943123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Satisfied User</a:t>
            </a:r>
            <a:endParaRPr/>
          </a:p>
        </p:txBody>
      </p:sp>
      <p:pic>
        <p:nvPicPr>
          <p:cNvPr descr="image.png" id="375" name="Google Shape;375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10862" y="4069109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300162" y="312047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243113" y="313565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185916" y="312047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000577" y="3120479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862863" y="312047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701337" y="312047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Customer Journey</a:t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73847"/>
            <a:ext cx="1066800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4740622"/>
            <a:ext cx="31749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8450" y="4740622"/>
            <a:ext cx="31749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9150" y="4740622"/>
            <a:ext cx="3175099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93263" y="650527"/>
            <a:ext cx="1036736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2"/>
          <p:cNvSpPr txBox="1"/>
          <p:nvPr/>
        </p:nvSpPr>
        <p:spPr>
          <a:xfrm>
            <a:off x="762000" y="6042719"/>
            <a:ext cx="29214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Weekly Deliverable Progress &amp; Trajectory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10873978" y="6042719"/>
            <a:ext cx="55602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10</a:t>
            </a:r>
            <a:endParaRPr/>
          </a:p>
        </p:txBody>
      </p:sp>
      <p:pic>
        <p:nvPicPr>
          <p:cNvPr descr="image.png" id="397" name="Google Shape;39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62125" y="2397472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2"/>
          <p:cNvSpPr txBox="1"/>
          <p:nvPr/>
        </p:nvSpPr>
        <p:spPr>
          <a:xfrm>
            <a:off x="948928" y="3064222"/>
            <a:ext cx="21502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Happy Path Implemented</a:t>
            </a:r>
            <a:endParaRPr/>
          </a:p>
        </p:txBody>
      </p:sp>
      <p:pic>
        <p:nvPicPr>
          <p:cNvPr descr="image.png" id="399" name="Google Shape;39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6750" y="2397472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2"/>
          <p:cNvSpPr txBox="1"/>
          <p:nvPr/>
        </p:nvSpPr>
        <p:spPr>
          <a:xfrm>
            <a:off x="3663553" y="3064222"/>
            <a:ext cx="21502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Auth Completed</a:t>
            </a:r>
            <a:endParaRPr/>
          </a:p>
        </p:txBody>
      </p:sp>
      <p:pic>
        <p:nvPicPr>
          <p:cNvPr descr="image.png" id="401" name="Google Shape;401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91375" y="2397472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2"/>
          <p:cNvSpPr txBox="1"/>
          <p:nvPr/>
        </p:nvSpPr>
        <p:spPr>
          <a:xfrm>
            <a:off x="6378178" y="3064222"/>
            <a:ext cx="21502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APIs Integrated</a:t>
            </a:r>
            <a:endParaRPr/>
          </a:p>
        </p:txBody>
      </p:sp>
      <p:pic>
        <p:nvPicPr>
          <p:cNvPr descr="image.png" id="403" name="Google Shape;403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06000" y="2397472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2"/>
          <p:cNvSpPr txBox="1"/>
          <p:nvPr/>
        </p:nvSpPr>
        <p:spPr>
          <a:xfrm>
            <a:off x="9092803" y="3064222"/>
            <a:ext cx="21502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Intent Routing Functional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1047750" y="4159597"/>
            <a:ext cx="333369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A3A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1 (ACTIVE)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1047750" y="4369147"/>
            <a:ext cx="317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 &amp; Happy Path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4508450" y="4159597"/>
            <a:ext cx="333369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A3A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2 (NEXT)</a:t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4508450" y="4369147"/>
            <a:ext cx="3174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 Cases &amp; Fallbacks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7969150" y="4159597"/>
            <a:ext cx="333385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A3A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3 (UPCOMING)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7969150" y="4369147"/>
            <a:ext cx="31750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Voice Integration &amp; Eval</a:t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1047750" y="4740622"/>
            <a:ext cx="3174950" cy="76200"/>
          </a:xfrm>
          <a:prstGeom prst="roundRect">
            <a:avLst>
              <a:gd fmla="val 50000" name="adj"/>
            </a:avLst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4508450" y="4740622"/>
            <a:ext cx="317450" cy="762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1 Key Achievements</a:t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21197"/>
            <a:ext cx="33971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1721197"/>
            <a:ext cx="3397299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1721197"/>
            <a:ext cx="33971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750022"/>
            <a:ext cx="33971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3750022"/>
            <a:ext cx="3397299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2700" y="3750022"/>
            <a:ext cx="33971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4916" y="650527"/>
            <a:ext cx="1145083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3"/>
          <p:cNvSpPr txBox="1"/>
          <p:nvPr/>
        </p:nvSpPr>
        <p:spPr>
          <a:xfrm>
            <a:off x="762000" y="6042719"/>
            <a:ext cx="2486917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EXL Core Competencies Developed</a:t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10873978" y="6042719"/>
            <a:ext cx="55602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11</a:t>
            </a:r>
            <a:endParaRPr/>
          </a:p>
        </p:txBody>
      </p:sp>
      <p:sp>
        <p:nvSpPr>
          <p:cNvPr id="430" name="Google Shape;430;p23"/>
          <p:cNvSpPr txBox="1"/>
          <p:nvPr/>
        </p:nvSpPr>
        <p:spPr>
          <a:xfrm>
            <a:off x="1057275" y="2616547"/>
            <a:ext cx="2806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Translating traditional call flows into dynamic, human-like voice response interactions.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4692550" y="2616547"/>
            <a:ext cx="28067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Structuring multi-parameter validations safely without risking backend query performance.</a:t>
            </a:r>
            <a:endParaRPr/>
          </a:p>
        </p:txBody>
      </p:sp>
      <p:sp>
        <p:nvSpPr>
          <p:cNvPr id="432" name="Google Shape;432;p23"/>
          <p:cNvSpPr txBox="1"/>
          <p:nvPr/>
        </p:nvSpPr>
        <p:spPr>
          <a:xfrm>
            <a:off x="8327975" y="2616547"/>
            <a:ext cx="2806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Formulating mock microservices that faithfully mirror production databases and core states.</a:t>
            </a:r>
            <a:endParaRPr/>
          </a:p>
        </p:txBody>
      </p:sp>
      <p:sp>
        <p:nvSpPr>
          <p:cNvPr id="433" name="Google Shape;433;p23"/>
          <p:cNvSpPr txBox="1"/>
          <p:nvPr/>
        </p:nvSpPr>
        <p:spPr>
          <a:xfrm>
            <a:off x="1057275" y="4645372"/>
            <a:ext cx="2806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Mastering workflow builders, managing agent logic, and controlling dynamic route nodes.</a:t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4692550" y="4645372"/>
            <a:ext cx="2806749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natural language nodes with robust utterances to maximize identification accuracy.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8327975" y="4645372"/>
            <a:ext cx="28066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critical operational KPIs governing professional insurance service workflows.</a:t>
            </a:r>
            <a:endParaRPr/>
          </a:p>
        </p:txBody>
      </p:sp>
      <p:pic>
        <p:nvPicPr>
          <p:cNvPr descr="image.png" id="436" name="Google Shape;436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" y="20164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3"/>
          <p:cNvSpPr txBox="1"/>
          <p:nvPr/>
        </p:nvSpPr>
        <p:spPr>
          <a:xfrm>
            <a:off x="1657350" y="2130772"/>
            <a:ext cx="18589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Conversation Design</a:t>
            </a:r>
            <a:endParaRPr/>
          </a:p>
        </p:txBody>
      </p:sp>
      <p:pic>
        <p:nvPicPr>
          <p:cNvPr descr="image.png" id="438" name="Google Shape;438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92550" y="20164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3"/>
          <p:cNvSpPr txBox="1"/>
          <p:nvPr/>
        </p:nvSpPr>
        <p:spPr>
          <a:xfrm>
            <a:off x="5292625" y="2130772"/>
            <a:ext cx="2008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Authentication</a:t>
            </a:r>
            <a:endParaRPr/>
          </a:p>
        </p:txBody>
      </p:sp>
      <p:pic>
        <p:nvPicPr>
          <p:cNvPr descr="image.png" id="440" name="Google Shape;440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27975" y="20164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3"/>
          <p:cNvSpPr txBox="1"/>
          <p:nvPr/>
        </p:nvSpPr>
        <p:spPr>
          <a:xfrm>
            <a:off x="8928050" y="2130772"/>
            <a:ext cx="13904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Integration</a:t>
            </a:r>
            <a:endParaRPr/>
          </a:p>
        </p:txBody>
      </p:sp>
      <p:pic>
        <p:nvPicPr>
          <p:cNvPr descr="image.png" id="442" name="Google Shape;442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57275" y="40452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3"/>
          <p:cNvSpPr txBox="1"/>
          <p:nvPr/>
        </p:nvSpPr>
        <p:spPr>
          <a:xfrm>
            <a:off x="1657350" y="4159597"/>
            <a:ext cx="14453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CX Agent Studio</a:t>
            </a:r>
            <a:endParaRPr/>
          </a:p>
        </p:txBody>
      </p:sp>
      <p:pic>
        <p:nvPicPr>
          <p:cNvPr descr="image.png" id="444" name="Google Shape;444;p2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92550" y="40452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/>
          <p:nvPr/>
        </p:nvSpPr>
        <p:spPr>
          <a:xfrm>
            <a:off x="5292625" y="4159597"/>
            <a:ext cx="14097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Intent Mapping</a:t>
            </a:r>
            <a:endParaRPr/>
          </a:p>
        </p:txBody>
      </p:sp>
      <p:pic>
        <p:nvPicPr>
          <p:cNvPr descr="image.png" id="446" name="Google Shape;446;p2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27975" y="40452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3"/>
          <p:cNvSpPr txBox="1"/>
          <p:nvPr/>
        </p:nvSpPr>
        <p:spPr>
          <a:xfrm>
            <a:off x="8928050" y="4159597"/>
            <a:ext cx="18533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Architecture</a:t>
            </a:r>
            <a:endParaRPr/>
          </a:p>
        </p:txBody>
      </p:sp>
      <p:pic>
        <p:nvPicPr>
          <p:cNvPr descr="image.png" id="448" name="Google Shape;448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52525" y="214029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87800" y="214029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423225" y="214029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2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52525" y="416912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2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802088" y="4169122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2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451800" y="416912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3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Skills &amp; Knowledge Gained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0" name="Google Shape;4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46944"/>
            <a:ext cx="5605462" cy="37678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3712" y="1746944"/>
            <a:ext cx="4586287" cy="2420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890319"/>
            <a:ext cx="10668000" cy="3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2067" y="650527"/>
            <a:ext cx="1557932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4"/>
          <p:cNvSpPr txBox="1"/>
          <p:nvPr/>
        </p:nvSpPr>
        <p:spPr>
          <a:xfrm>
            <a:off x="762000" y="6042719"/>
            <a:ext cx="327317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Roadmap Delivery Status • Week 1 Completed</a:t>
            </a:r>
            <a:endParaRPr/>
          </a:p>
        </p:txBody>
      </p:sp>
      <p:sp>
        <p:nvSpPr>
          <p:cNvPr id="466" name="Google Shape;466;p24"/>
          <p:cNvSpPr txBox="1"/>
          <p:nvPr/>
        </p:nvSpPr>
        <p:spPr>
          <a:xfrm>
            <a:off x="10873978" y="6042719"/>
            <a:ext cx="556021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 12</a:t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3507581" y="2341289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3B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1314450" y="2042219"/>
            <a:ext cx="499562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1: Foundation</a:t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>
            <a:off x="3507581" y="343279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 txBox="1"/>
          <p:nvPr/>
        </p:nvSpPr>
        <p:spPr>
          <a:xfrm>
            <a:off x="1314450" y="2897534"/>
            <a:ext cx="499562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2: Edge Cases &amp; Exceptions</a:t>
            </a:r>
            <a:endParaRPr/>
          </a:p>
        </p:txBody>
      </p:sp>
      <p:sp>
        <p:nvSpPr>
          <p:cNvPr id="471" name="Google Shape;471;p24"/>
          <p:cNvSpPr/>
          <p:nvPr/>
        </p:nvSpPr>
        <p:spPr>
          <a:xfrm>
            <a:off x="3507581" y="466524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03B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1295400" y="4225230"/>
            <a:ext cx="501562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3: Quality &amp; Evaluation</a:t>
            </a:r>
            <a:endParaRPr/>
          </a:p>
        </p:txBody>
      </p:sp>
      <p:pic>
        <p:nvPicPr>
          <p:cNvPr descr="image.png" id="473" name="Google Shape;47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86587" y="1889819"/>
            <a:ext cx="4191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4"/>
          <p:cNvSpPr txBox="1"/>
          <p:nvPr/>
        </p:nvSpPr>
        <p:spPr>
          <a:xfrm>
            <a:off x="7129462" y="3394471"/>
            <a:ext cx="40147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Foundation for Advanced Features &amp; Production Readiness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1485900" y="2327969"/>
            <a:ext cx="458628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Happy Path Implementation</a:t>
            </a:r>
            <a:endParaRPr/>
          </a:p>
        </p:txBody>
      </p:sp>
      <p:sp>
        <p:nvSpPr>
          <p:cNvPr id="476" name="Google Shape;476;p24"/>
          <p:cNvSpPr txBox="1"/>
          <p:nvPr/>
        </p:nvSpPr>
        <p:spPr>
          <a:xfrm>
            <a:off x="1466850" y="3183284"/>
            <a:ext cx="460533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Failed Authentication Flows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1466850" y="3419475"/>
            <a:ext cx="460533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Invalid Policy/Claim Exceptions</a:t>
            </a:r>
            <a:endParaRPr/>
          </a:p>
        </p:txBody>
      </p:sp>
      <p:sp>
        <p:nvSpPr>
          <p:cNvPr id="478" name="Google Shape;478;p24"/>
          <p:cNvSpPr txBox="1"/>
          <p:nvPr/>
        </p:nvSpPr>
        <p:spPr>
          <a:xfrm>
            <a:off x="1466850" y="3655665"/>
            <a:ext cx="460533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API Fallbacks &amp; Human Transfers</a:t>
            </a:r>
            <a:endParaRPr/>
          </a:p>
        </p:txBody>
      </p:sp>
      <p:sp>
        <p:nvSpPr>
          <p:cNvPr id="479" name="Google Shape;479;p24"/>
          <p:cNvSpPr txBox="1"/>
          <p:nvPr/>
        </p:nvSpPr>
        <p:spPr>
          <a:xfrm>
            <a:off x="1447800" y="4510980"/>
            <a:ext cx="462438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Voice Processing Integrations</a:t>
            </a:r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1447800" y="4747170"/>
            <a:ext cx="462438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Robust End-to-End Stress Verification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1447800" y="4983360"/>
            <a:ext cx="4624387" cy="198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 Optimization Metrics</a:t>
            </a:r>
            <a:endParaRPr/>
          </a:p>
        </p:txBody>
      </p:sp>
      <p:pic>
        <p:nvPicPr>
          <p:cNvPr descr="image.png" id="482" name="Google Shape;48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14450" y="2379315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4450" y="324415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4450" y="348034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4450" y="371653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95400" y="457185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95400" y="480804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95400" y="5044231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4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Roadmap &amp; Next Steps</a:t>
            </a:r>
            <a:endParaRPr/>
          </a:p>
        </p:txBody>
      </p:sp>
      <p:sp>
        <p:nvSpPr>
          <p:cNvPr id="490" name="Google Shape;490;p24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7129462" y="2032694"/>
            <a:ext cx="4014787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1 successfully established the core architecture of the Insurance Conversational Voice Agent by implementing authentication, defining customer intents, integrating mock APIs, and delivering functional happy-path conversational workflows.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6" name="Google Shape;4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5"/>
          <p:cNvSpPr/>
          <p:nvPr/>
        </p:nvSpPr>
        <p:spPr>
          <a:xfrm>
            <a:off x="762000" y="2949922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762000" y="372516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762000" y="372516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0" name="Google Shape;5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993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5"/>
          <p:cNvSpPr txBox="1"/>
          <p:nvPr/>
        </p:nvSpPr>
        <p:spPr>
          <a:xfrm>
            <a:off x="1857375" y="309279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https://insurancenewsnet.com/wp-content/uploads/2025/11/The-New-Playbook-AI-powered-prospecting-for-insurance-agents-1150x610.jpg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1857375" y="333851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insurancenewsnet.com</a:t>
            </a:r>
            <a:endParaRPr/>
          </a:p>
        </p:txBody>
      </p:sp>
      <p:pic>
        <p:nvPicPr>
          <p:cNvPr descr="image.png" id="503" name="Google Shape;5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832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5"/>
          <p:cNvSpPr txBox="1"/>
          <p:nvPr/>
        </p:nvSpPr>
        <p:spPr>
          <a:xfrm>
            <a:off x="1857375" y="3877567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https://media.istockphoto.com/id/2227324698/vector/robot_gear-low-poly-wireframe.jpg?s=612x612&amp;w=0&amp;k=20&amp;c=8tEG9xTrh0Iuefof5_YPuEONZ55FUT0Kt9ZeUIx3LdQ=</a:t>
            </a:r>
            <a:endParaRPr/>
          </a:p>
        </p:txBody>
      </p:sp>
      <p:sp>
        <p:nvSpPr>
          <p:cNvPr id="505" name="Google Shape;505;p25"/>
          <p:cNvSpPr txBox="1"/>
          <p:nvPr/>
        </p:nvSpPr>
        <p:spPr>
          <a:xfrm>
            <a:off x="1857375" y="4321373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www.istockphoto.com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952500" y="571500"/>
            <a:ext cx="110013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3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Sources</a:t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762000" y="571500"/>
            <a:ext cx="57150" cy="466725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