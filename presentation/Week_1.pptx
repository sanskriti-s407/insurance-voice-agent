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FA4D09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85"/>
              </a:spcBef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FA4D09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85"/>
              </a:spcBef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FA4D09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85"/>
              </a:spcBef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FA4D09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85"/>
              </a:spcBef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FA4D09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85"/>
              </a:spcBef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362325" y="495300"/>
            <a:ext cx="6486525" cy="5572125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0963275" y="6134098"/>
            <a:ext cx="990600" cy="638175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61962" y="946150"/>
            <a:ext cx="7061263" cy="31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9600" y="274320"/>
            <a:ext cx="10972800" cy="1097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0450194" y="6449643"/>
            <a:ext cx="142240" cy="1543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FA4D09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85"/>
              </a:spcBef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4E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487168" y="2103120"/>
            <a:ext cx="54864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61488" y="2304288"/>
            <a:ext cx="5029200" cy="2560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Aptos Display"/>
              </a:rPr>
              <a:t>Week 1 Progress Report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41414"/>
                </a:solidFill>
                <a:latin typeface="Aptos Display"/>
              </a:rPr>
              <a:t>Insurance Conversational Voice Agent</a:t>
            </a:r>
          </a:p>
          <a:p>
            <a:pPr>
              <a:spcBef>
                <a:spcPts val="700"/>
              </a:spcBef>
            </a:pPr>
            <a:r>
              <a:rPr sz="1500" b="1">
                <a:solidFill>
                  <a:srgbClr val="FF5014"/>
                </a:solidFill>
                <a:latin typeface="Aptos"/>
              </a:rPr>
              <a:t>Foundation &amp; Happy Path Implementation</a:t>
            </a:r>
          </a:p>
          <a:p>
            <a:pPr>
              <a:spcBef>
                <a:spcPts val="1700"/>
              </a:spcBef>
            </a:pPr>
            <a:r>
              <a:rPr sz="1200">
                <a:solidFill>
                  <a:srgbClr val="003B71"/>
                </a:solidFill>
                <a:latin typeface="Aptos"/>
              </a:rPr>
              <a:t>Team 5  |  EXL Internship  |  Week 1 Deliverable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Project Overview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353312"/>
            <a:ext cx="3840480" cy="32004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2A3441"/>
                </a:solidFill>
                <a:latin typeface="Aptos"/>
              </a:rPr>
              <a:t>Business Problem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83080"/>
            <a:ext cx="2286000" cy="960120"/>
          </a:xfrm>
          <a:prstGeom prst="roundRect">
            <a:avLst/>
          </a:prstGeom>
          <a:solidFill>
            <a:srgbClr val="F7F9FC"/>
          </a:solidFill>
          <a:ln>
            <a:noFill/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1984248"/>
            <a:ext cx="438912" cy="438912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98424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1947672"/>
            <a:ext cx="141732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03B71"/>
                </a:solidFill>
                <a:latin typeface="Aptos"/>
              </a:rPr>
              <a:t>High Call Volume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1783080"/>
            <a:ext cx="2286000" cy="960120"/>
          </a:xfrm>
          <a:prstGeom prst="roundRect">
            <a:avLst/>
          </a:prstGeom>
          <a:solidFill>
            <a:srgbClr val="F7F9FC"/>
          </a:solidFill>
          <a:ln>
            <a:noFill/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73552" y="1984248"/>
            <a:ext cx="438912" cy="438912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73552" y="198424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1" y="1947672"/>
            <a:ext cx="141732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03B71"/>
                </a:solidFill>
                <a:latin typeface="Aptos"/>
              </a:rPr>
              <a:t>Long Wait Times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017520"/>
            <a:ext cx="2286000" cy="960120"/>
          </a:xfrm>
          <a:prstGeom prst="roundRect">
            <a:avLst/>
          </a:prstGeom>
          <a:solidFill>
            <a:srgbClr val="F7F9FC"/>
          </a:solidFill>
          <a:ln>
            <a:noFill/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8952" y="3218688"/>
            <a:ext cx="438912" cy="438912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321868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3182112"/>
            <a:ext cx="141732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03B71"/>
                </a:solidFill>
                <a:latin typeface="Aptos"/>
              </a:rPr>
              <a:t>Manual Claim &amp; Policy Processing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3017520"/>
            <a:ext cx="2286000" cy="960120"/>
          </a:xfrm>
          <a:prstGeom prst="roundRect">
            <a:avLst/>
          </a:prstGeom>
          <a:solidFill>
            <a:srgbClr val="F7F9FC"/>
          </a:solidFill>
          <a:ln>
            <a:noFill/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273552" y="3218688"/>
            <a:ext cx="438912" cy="438912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3552" y="321868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22191" y="3182112"/>
            <a:ext cx="141732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03B71"/>
                </a:solidFill>
                <a:latin typeface="Aptos"/>
              </a:rPr>
              <a:t>Need Better Customer Experience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0" y="1417320"/>
            <a:ext cx="1874519" cy="30175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1664208"/>
            <a:ext cx="141732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003B71"/>
                </a:solidFill>
                <a:latin typeface="Aptos"/>
              </a:rPr>
              <a:t>CUSTOMER
SUPPORT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91072" y="2514600"/>
            <a:ext cx="1005840" cy="0"/>
          </a:xfrm>
          <a:prstGeom prst="line">
            <a:avLst/>
          </a:prstGeom>
          <a:ln w="381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989320" y="2368296"/>
            <a:ext cx="292608" cy="292608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9320" y="2368296"/>
            <a:ext cx="292608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91072" y="2999232"/>
            <a:ext cx="1005840" cy="0"/>
          </a:xfrm>
          <a:prstGeom prst="line">
            <a:avLst/>
          </a:prstGeom>
          <a:ln w="381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989320" y="2852927"/>
            <a:ext cx="292608" cy="292608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2852927"/>
            <a:ext cx="292608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91072" y="3483864"/>
            <a:ext cx="1005840" cy="0"/>
          </a:xfrm>
          <a:prstGeom prst="line">
            <a:avLst/>
          </a:prstGeom>
          <a:ln w="381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989320" y="3337560"/>
            <a:ext cx="292608" cy="292608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3337560"/>
            <a:ext cx="292608" cy="29260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01000" y="1417320"/>
            <a:ext cx="34290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1700784"/>
            <a:ext cx="2377440" cy="2286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EE4E1D"/>
                </a:solidFill>
                <a:latin typeface="Aptos"/>
              </a:rPr>
              <a:t>OBJECTIVE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121408"/>
            <a:ext cx="2743200" cy="1691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A3441"/>
                </a:solidFill>
                <a:latin typeface="Aptos"/>
              </a:rPr>
              <a:t>Build an AI-powered insurance voice agent that securely automates customer interactions, authenticates users, detects intents, and retrieves information through backend APIs.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DELIVERY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Week 1 Scope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1417320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399032"/>
            <a:ext cx="384048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Understand Business Use Case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7552" y="1837944"/>
            <a:ext cx="0" cy="27432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77240" y="2112264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112264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093976"/>
            <a:ext cx="384048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Define Core Intents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7552" y="2532888"/>
            <a:ext cx="0" cy="27432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77240" y="2807208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07208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788920"/>
            <a:ext cx="384048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Design Happy Path Conversation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7552" y="3227832"/>
            <a:ext cx="0" cy="27432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77240" y="3502152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502152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483864"/>
            <a:ext cx="384048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Implement Authentication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87552" y="3922776"/>
            <a:ext cx="0" cy="27432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77240" y="4197096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97096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178808"/>
            <a:ext cx="384048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Integrate Mock APIs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87552" y="4617720"/>
            <a:ext cx="0" cy="27432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77240" y="4892040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92040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873752"/>
            <a:ext cx="384048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Functional Insurance Voice Bot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52160" y="1417320"/>
            <a:ext cx="5074920" cy="41605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1709928"/>
            <a:ext cx="4114800" cy="25603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EE4E1D"/>
                </a:solidFill>
                <a:latin typeface="Aptos"/>
              </a:rPr>
              <a:t>COMPLETION CHECKLIST</a:t>
            </a:r>
          </a:p>
        </p:txBody>
      </p:sp>
      <p:sp>
        <p:nvSpPr>
          <p:cNvPr id="35" name="Oval 34"/>
          <p:cNvSpPr/>
          <p:nvPr/>
        </p:nvSpPr>
        <p:spPr>
          <a:xfrm>
            <a:off x="6236208" y="2240280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36208" y="2240280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2212848"/>
            <a:ext cx="3749039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Business Use Case Understood</a:t>
            </a:r>
          </a:p>
        </p:txBody>
      </p:sp>
      <p:sp>
        <p:nvSpPr>
          <p:cNvPr id="38" name="Oval 37"/>
          <p:cNvSpPr/>
          <p:nvPr/>
        </p:nvSpPr>
        <p:spPr>
          <a:xfrm>
            <a:off x="6236208" y="2834640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2834640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2807208"/>
            <a:ext cx="3749039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Intents Defined</a:t>
            </a:r>
          </a:p>
        </p:txBody>
      </p:sp>
      <p:sp>
        <p:nvSpPr>
          <p:cNvPr id="41" name="Oval 40"/>
          <p:cNvSpPr/>
          <p:nvPr/>
        </p:nvSpPr>
        <p:spPr>
          <a:xfrm>
            <a:off x="6236208" y="3429000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3429000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3401568"/>
            <a:ext cx="3749039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Authentication Designed</a:t>
            </a:r>
          </a:p>
        </p:txBody>
      </p:sp>
      <p:sp>
        <p:nvSpPr>
          <p:cNvPr id="44" name="Oval 43"/>
          <p:cNvSpPr/>
          <p:nvPr/>
        </p:nvSpPr>
        <p:spPr>
          <a:xfrm>
            <a:off x="6236208" y="4023360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36208" y="4023360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3995928"/>
            <a:ext cx="3749039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Mock APIs Integrated</a:t>
            </a:r>
          </a:p>
        </p:txBody>
      </p:sp>
      <p:sp>
        <p:nvSpPr>
          <p:cNvPr id="47" name="Oval 46"/>
          <p:cNvSpPr/>
          <p:nvPr/>
        </p:nvSpPr>
        <p:spPr>
          <a:xfrm>
            <a:off x="6236208" y="4617720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590288"/>
            <a:ext cx="3749039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Happy Path Completed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SOLUTION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High-Level 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65960"/>
            <a:ext cx="16002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1" y="1572768"/>
            <a:ext cx="475488" cy="475488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572768"/>
            <a:ext cx="475488" cy="4754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132588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03B71"/>
                </a:solidFill>
                <a:latin typeface="Aptos"/>
              </a:rPr>
              <a:t>Customer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03120" y="2615184"/>
            <a:ext cx="320040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423160" y="1965960"/>
            <a:ext cx="16002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53512" y="1572768"/>
            <a:ext cx="475488" cy="475488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1572768"/>
            <a:ext cx="475488" cy="4754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212848"/>
            <a:ext cx="132588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03B71"/>
                </a:solidFill>
                <a:latin typeface="Aptos"/>
              </a:rPr>
              <a:t>CX Agent Studio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23360" y="2615184"/>
            <a:ext cx="320040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43400" y="1965960"/>
            <a:ext cx="16002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73752" y="1572768"/>
            <a:ext cx="475488" cy="475488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3752" y="1572768"/>
            <a:ext cx="475488" cy="4754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212848"/>
            <a:ext cx="132588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03B71"/>
                </a:solidFill>
                <a:latin typeface="Aptos"/>
              </a:rPr>
              <a:t>Authentication Layer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2615184"/>
            <a:ext cx="320040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3640" y="1965960"/>
            <a:ext cx="16002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93992" y="1572768"/>
            <a:ext cx="475488" cy="475488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1572768"/>
            <a:ext cx="475488" cy="4754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212848"/>
            <a:ext cx="132588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03B71"/>
                </a:solidFill>
                <a:latin typeface="Aptos"/>
              </a:rPr>
              <a:t>Intent Routing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3840" y="2615184"/>
            <a:ext cx="320039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83879" y="1965960"/>
            <a:ext cx="16002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714232" y="1572768"/>
            <a:ext cx="475488" cy="475488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14232" y="1572768"/>
            <a:ext cx="475488" cy="4754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212848"/>
            <a:ext cx="132588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03B71"/>
                </a:solidFill>
                <a:latin typeface="Aptos"/>
              </a:rPr>
              <a:t>Backend APIs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784080" y="2615184"/>
            <a:ext cx="320040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104120" y="1965960"/>
            <a:ext cx="16002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634472" y="1572768"/>
            <a:ext cx="475488" cy="475488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34472" y="1572768"/>
            <a:ext cx="475488" cy="4754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2212848"/>
            <a:ext cx="132588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003B71"/>
                </a:solidFill>
                <a:latin typeface="Aptos"/>
              </a:rPr>
              <a:t>Response to Customer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28800" y="4069080"/>
            <a:ext cx="8503920" cy="114300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84831" y="4334256"/>
            <a:ext cx="7973568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2A3441"/>
                </a:solidFill>
                <a:latin typeface="Aptos"/>
              </a:rPr>
              <a:t>Secure customer request → authenticated session → correct intent → backend action → clear voice response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SERVICE CATALOGUE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Core Intents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481328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6" y="1828800"/>
            <a:ext cx="502920" cy="502920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737360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Policy Inquiry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1481328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62855" y="1828800"/>
            <a:ext cx="502920" cy="502920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737360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Claim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481328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66176" y="1828800"/>
            <a:ext cx="502920" cy="502920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737360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Benefits Information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054096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9536" y="3401568"/>
            <a:ext cx="502920" cy="502920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3401568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310128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Policy Renewal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61688" y="3054096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62855" y="3401568"/>
            <a:ext cx="502920" cy="502920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2855" y="3401568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3310128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Agent Escalation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3054096"/>
            <a:ext cx="33375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66176" y="3401568"/>
            <a:ext cx="502920" cy="502920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401568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310128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b="1" sz="1600">
                <a:solidFill>
                  <a:srgbClr val="003B71"/>
                </a:solidFill>
                <a:latin typeface="Aptos"/>
              </a:rPr>
              <a:t>Onboarding Agent</a:t>
            </a:r>
          </a:p>
          <a:p>
            <a:pPr algn="l"/>
            <a:r>
              <a:rPr b="0" sz="1100">
                <a:solidFill>
                  <a:srgbClr val="003B71"/>
                </a:solidFill>
                <a:latin typeface="Aptos"/>
              </a:rPr>
              <a:t>Health • Life • Vehicle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4956048"/>
            <a:ext cx="9509760" cy="40233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646E7A"/>
                </a:solidFill>
                <a:latin typeface="Aptos"/>
              </a:rPr>
              <a:t>These intents represent the primary customer journeys implemented during Week 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CONVERSATION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Happy Path Conversation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6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1965960"/>
            <a:ext cx="658368" cy="658368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658368" cy="6583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" y="2743200"/>
            <a:ext cx="1243584" cy="53035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03B71"/>
                </a:solidFill>
                <a:latin typeface="Aptos"/>
              </a:rPr>
              <a:t>Start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69848" y="2304288"/>
            <a:ext cx="1005840" cy="0"/>
          </a:xfrm>
          <a:prstGeom prst="line">
            <a:avLst/>
          </a:prstGeom>
          <a:ln w="25400">
            <a:solidFill>
              <a:srgbClr val="003B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075688" y="1965960"/>
            <a:ext cx="658368" cy="658368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75688" y="1965960"/>
            <a:ext cx="658368" cy="6583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743200"/>
            <a:ext cx="1243584" cy="53035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03B71"/>
                </a:solidFill>
                <a:latin typeface="Aptos"/>
              </a:rPr>
              <a:t>Authenticate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34056" y="2304288"/>
            <a:ext cx="1005840" cy="0"/>
          </a:xfrm>
          <a:prstGeom prst="line">
            <a:avLst/>
          </a:prstGeom>
          <a:ln w="25400">
            <a:solidFill>
              <a:srgbClr val="003B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739896" y="1965960"/>
            <a:ext cx="658368" cy="658368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1965960"/>
            <a:ext cx="658368" cy="6583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2743200"/>
            <a:ext cx="1243584" cy="53035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03B71"/>
                </a:solidFill>
                <a:latin typeface="Aptos"/>
              </a:rPr>
              <a:t>Detect Intent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98264" y="2304288"/>
            <a:ext cx="1005840" cy="0"/>
          </a:xfrm>
          <a:prstGeom prst="line">
            <a:avLst/>
          </a:prstGeom>
          <a:ln w="25400">
            <a:solidFill>
              <a:srgbClr val="003B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04104" y="1965960"/>
            <a:ext cx="658368" cy="658368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04104" y="1965960"/>
            <a:ext cx="658368" cy="6583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1496" y="2743200"/>
            <a:ext cx="1243584" cy="53035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03B71"/>
                </a:solidFill>
                <a:latin typeface="Aptos"/>
              </a:rPr>
              <a:t>Route Service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62472" y="2304288"/>
            <a:ext cx="1005840" cy="0"/>
          </a:xfrm>
          <a:prstGeom prst="line">
            <a:avLst/>
          </a:prstGeom>
          <a:ln w="25400">
            <a:solidFill>
              <a:srgbClr val="003B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068312" y="1965960"/>
            <a:ext cx="658368" cy="658368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8312" y="1965960"/>
            <a:ext cx="658368" cy="6583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743200"/>
            <a:ext cx="1243584" cy="53035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03B71"/>
                </a:solidFill>
                <a:latin typeface="Aptos"/>
              </a:rPr>
              <a:t>Call 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26680" y="2304288"/>
            <a:ext cx="1005840" cy="0"/>
          </a:xfrm>
          <a:prstGeom prst="line">
            <a:avLst/>
          </a:prstGeom>
          <a:ln w="25400">
            <a:solidFill>
              <a:srgbClr val="003B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8732519" y="1965960"/>
            <a:ext cx="658368" cy="658368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19" y="1965960"/>
            <a:ext cx="658368" cy="6583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9911" y="2743200"/>
            <a:ext cx="1243584" cy="53035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03B71"/>
                </a:solidFill>
                <a:latin typeface="Aptos"/>
              </a:rPr>
              <a:t>Return Info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90888" y="2304288"/>
            <a:ext cx="1005840" cy="0"/>
          </a:xfrm>
          <a:prstGeom prst="line">
            <a:avLst/>
          </a:prstGeom>
          <a:ln w="25400">
            <a:solidFill>
              <a:srgbClr val="003B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396728" y="1965960"/>
            <a:ext cx="658368" cy="658368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96728" y="1965960"/>
            <a:ext cx="658368" cy="6583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19" y="2743200"/>
            <a:ext cx="1243584" cy="53035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03B71"/>
                </a:solidFill>
                <a:latin typeface="Aptos"/>
              </a:rPr>
              <a:t>Complete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1560" y="3950208"/>
            <a:ext cx="10104120" cy="1078992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0" y="4187952"/>
            <a:ext cx="9464040" cy="56692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2A3441"/>
                </a:solidFill>
                <a:latin typeface="Aptos"/>
              </a:rPr>
              <a:t>The happy path validates that each customer request moves through authentication, routing, API execution and response without interruption.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SECURE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Authentication Flow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7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1417320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17320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1399032"/>
            <a:ext cx="3977639" cy="530352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19072" y="1417320"/>
            <a:ext cx="356616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Phone Number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15568" y="1837944"/>
            <a:ext cx="0" cy="374904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14400" y="2212848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212848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81328" y="2194560"/>
            <a:ext cx="3977639" cy="530352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9072" y="2212848"/>
            <a:ext cx="356616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Date of Birth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15568" y="2633472"/>
            <a:ext cx="0" cy="374904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914400" y="3008376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08376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81328" y="2990088"/>
            <a:ext cx="3977639" cy="530352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19072" y="3008376"/>
            <a:ext cx="356616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Verification Question 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15568" y="3429000"/>
            <a:ext cx="0" cy="374904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14400" y="3803904"/>
            <a:ext cx="420624" cy="420624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03904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81328" y="3785616"/>
            <a:ext cx="3977639" cy="530352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19072" y="3803904"/>
            <a:ext cx="356616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Verification Question 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15568" y="4224528"/>
            <a:ext cx="0" cy="374904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14400" y="4599432"/>
            <a:ext cx="420624" cy="420624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99432"/>
            <a:ext cx="420624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81328" y="4581144"/>
            <a:ext cx="3977639" cy="530352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19072" y="4599432"/>
            <a:ext cx="356616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Authentication Successful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1417320"/>
            <a:ext cx="43434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9712" y="1755648"/>
            <a:ext cx="3383280" cy="25603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EE4E1D"/>
                </a:solidFill>
                <a:latin typeface="Aptos"/>
              </a:rPr>
              <a:t>SECURITY FEATURES</a:t>
            </a:r>
          </a:p>
        </p:txBody>
      </p:sp>
      <p:sp>
        <p:nvSpPr>
          <p:cNvPr id="36" name="Oval 35"/>
          <p:cNvSpPr/>
          <p:nvPr/>
        </p:nvSpPr>
        <p:spPr>
          <a:xfrm>
            <a:off x="6839712" y="2395728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39712" y="2395728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6912" y="2377440"/>
            <a:ext cx="310896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Identity Verification</a:t>
            </a:r>
          </a:p>
        </p:txBody>
      </p:sp>
      <p:sp>
        <p:nvSpPr>
          <p:cNvPr id="39" name="Oval 38"/>
          <p:cNvSpPr/>
          <p:nvPr/>
        </p:nvSpPr>
        <p:spPr>
          <a:xfrm>
            <a:off x="6839712" y="3054096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39712" y="3054096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6912" y="3035808"/>
            <a:ext cx="310896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Backend Validation</a:t>
            </a:r>
          </a:p>
        </p:txBody>
      </p:sp>
      <p:sp>
        <p:nvSpPr>
          <p:cNvPr id="42" name="Oval 41"/>
          <p:cNvSpPr/>
          <p:nvPr/>
        </p:nvSpPr>
        <p:spPr>
          <a:xfrm>
            <a:off x="6839712" y="3712464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9712" y="3712464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96912" y="3694176"/>
            <a:ext cx="310896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Secure Customer Access</a:t>
            </a:r>
          </a:p>
        </p:txBody>
      </p:sp>
      <p:sp>
        <p:nvSpPr>
          <p:cNvPr id="45" name="Oval 44"/>
          <p:cNvSpPr/>
          <p:nvPr/>
        </p:nvSpPr>
        <p:spPr>
          <a:xfrm>
            <a:off x="6839712" y="4370832"/>
            <a:ext cx="310896" cy="310896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39712" y="4370832"/>
            <a:ext cx="3108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96912" y="4352544"/>
            <a:ext cx="3108960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2A3441"/>
                </a:solidFill>
                <a:latin typeface="Aptos"/>
              </a:rPr>
              <a:t>Prevent Unauthorized Requests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BACKEND 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Mock API Integration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508760"/>
            <a:ext cx="3337560" cy="9601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1737360"/>
            <a:ext cx="493776" cy="493776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737360"/>
            <a:ext cx="493776" cy="4937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709928"/>
            <a:ext cx="224028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validateUser()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1508760"/>
            <a:ext cx="3337560" cy="9601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1" y="1737360"/>
            <a:ext cx="493776" cy="493776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1" y="1737360"/>
            <a:ext cx="493776" cy="4937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709928"/>
            <a:ext cx="224028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getPolicyDetails()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508760"/>
            <a:ext cx="3337560" cy="9601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94192" y="1737360"/>
            <a:ext cx="493776" cy="493776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1737360"/>
            <a:ext cx="493776" cy="4937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709928"/>
            <a:ext cx="224028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getClaimsStatus()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834639"/>
            <a:ext cx="3337560" cy="9601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96112" y="3063239"/>
            <a:ext cx="493776" cy="493776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063239"/>
            <a:ext cx="493776" cy="4937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035808"/>
            <a:ext cx="224028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getBenefitsInfo()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2834639"/>
            <a:ext cx="3337560" cy="9601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45151" y="3063239"/>
            <a:ext cx="493776" cy="493776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1" y="3063239"/>
            <a:ext cx="493776" cy="4937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3035808"/>
            <a:ext cx="224028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003B71"/>
                </a:solidFill>
                <a:latin typeface="Aptos"/>
              </a:rPr>
              <a:t>renewPolicy()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834639"/>
            <a:ext cx="3337560" cy="9601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94192" y="3063239"/>
            <a:ext cx="493776" cy="493776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94192" y="3063239"/>
            <a:ext cx="493776" cy="49377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035808"/>
            <a:ext cx="224028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003B71"/>
                </a:solidFill>
                <a:latin typeface="Aptos"/>
              </a:rPr>
              <a:t>onBoardUser()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4498848"/>
            <a:ext cx="99669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4681728"/>
            <a:ext cx="9326880" cy="42062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2A3441"/>
                </a:solidFill>
                <a:latin typeface="Aptos"/>
              </a:rPr>
              <a:t>Mock APIs simulate backend services and enable complete conversation-flow testing before production deployment.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END-TO-END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Customer Journey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828800"/>
            <a:ext cx="148132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3" y="1463040"/>
            <a:ext cx="512064" cy="512064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14630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21408"/>
            <a:ext cx="1261872" cy="56692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50" b="1">
                <a:solidFill>
                  <a:srgbClr val="003B71"/>
                </a:solidFill>
                <a:latin typeface="Aptos"/>
              </a:rPr>
              <a:t>Customer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414016"/>
            <a:ext cx="438912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450592" y="1828800"/>
            <a:ext cx="148132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5224" y="1463040"/>
            <a:ext cx="512064" cy="512064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14630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121408"/>
            <a:ext cx="1261872" cy="56692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50" b="1">
                <a:solidFill>
                  <a:srgbClr val="003B71"/>
                </a:solidFill>
                <a:latin typeface="Aptos"/>
              </a:rPr>
              <a:t>Authentication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2414016"/>
            <a:ext cx="438912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70832" y="1828800"/>
            <a:ext cx="148132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55464" y="1463040"/>
            <a:ext cx="512064" cy="512064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55464" y="14630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121408"/>
            <a:ext cx="1261872" cy="56692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50" b="1">
                <a:solidFill>
                  <a:srgbClr val="003B71"/>
                </a:solidFill>
                <a:latin typeface="Aptos"/>
              </a:rPr>
              <a:t>Intent Detection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2160" y="2414016"/>
            <a:ext cx="438912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91072" y="1828800"/>
            <a:ext cx="148132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75704" y="1463040"/>
            <a:ext cx="512064" cy="512064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14630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21408"/>
            <a:ext cx="1261872" cy="56692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50" b="1">
                <a:solidFill>
                  <a:srgbClr val="003B71"/>
                </a:solidFill>
                <a:latin typeface="Aptos"/>
              </a:rPr>
              <a:t>API Execution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2400" y="2414016"/>
            <a:ext cx="438912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11312" y="1828800"/>
            <a:ext cx="148132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95944" y="1463040"/>
            <a:ext cx="512064" cy="512064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95944" y="14630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121408"/>
            <a:ext cx="1261872" cy="56692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50" b="1">
                <a:solidFill>
                  <a:srgbClr val="003B71"/>
                </a:solidFill>
                <a:latin typeface="Aptos"/>
              </a:rPr>
              <a:t>Response Generation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92640" y="2414016"/>
            <a:ext cx="438912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131552" y="1828800"/>
            <a:ext cx="1481328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616184" y="1463040"/>
            <a:ext cx="512064" cy="512064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16184" y="146304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2121408"/>
            <a:ext cx="1261872" cy="56692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50" b="1">
                <a:solidFill>
                  <a:srgbClr val="003B71"/>
                </a:solidFill>
                <a:latin typeface="Aptos"/>
              </a:rPr>
              <a:t>Satisfied Customer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28800" y="3977639"/>
            <a:ext cx="8549640" cy="1024128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48840" y="4224528"/>
            <a:ext cx="7909560" cy="4572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2A3441"/>
                </a:solidFill>
                <a:latin typeface="Aptos"/>
              </a:rPr>
              <a:t>Every completed stage confirms a secure and consistent customer experience.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DELIVERY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Week 1 Achievements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508760"/>
            <a:ext cx="248716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1819656"/>
            <a:ext cx="438912" cy="438912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81965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7" y="1719072"/>
            <a:ext cx="150876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50" b="1">
                <a:solidFill>
                  <a:srgbClr val="003B71"/>
                </a:solidFill>
                <a:latin typeface="Aptos"/>
              </a:rPr>
              <a:t>Happy Path 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1508760"/>
            <a:ext cx="248716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9312" y="1819656"/>
            <a:ext cx="438912" cy="438912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181965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1719072"/>
            <a:ext cx="150876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50" b="1">
                <a:solidFill>
                  <a:srgbClr val="003B71"/>
                </a:solidFill>
                <a:latin typeface="Aptos"/>
              </a:rPr>
              <a:t>Secure Authentication Completed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08760"/>
            <a:ext cx="248716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28231" y="1819656"/>
            <a:ext cx="438912" cy="438912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1" y="181965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1719072"/>
            <a:ext cx="150876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50" b="1">
                <a:solidFill>
                  <a:srgbClr val="003B71"/>
                </a:solidFill>
                <a:latin typeface="Aptos"/>
              </a:rPr>
              <a:t>Backend APIs Integrated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59" y="1508760"/>
            <a:ext cx="2487168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17151" y="1819656"/>
            <a:ext cx="438912" cy="438912"/>
          </a:xfrm>
          <a:prstGeom prst="ellipse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7151" y="181965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7" y="1719072"/>
            <a:ext cx="1508760" cy="5943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50" b="1">
                <a:solidFill>
                  <a:srgbClr val="003B71"/>
                </a:solidFill>
                <a:latin typeface="Aptos"/>
              </a:rPr>
              <a:t>Intent Routing Functional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46120"/>
            <a:ext cx="22860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EE4E1D"/>
                </a:solidFill>
                <a:latin typeface="Aptos"/>
              </a:rPr>
              <a:t>PROJECT PROGRESS</a:t>
            </a:r>
          </a:p>
        </p:txBody>
      </p:sp>
      <p:sp>
        <p:nvSpPr>
          <p:cNvPr id="27" name="Oval 26"/>
          <p:cNvSpPr/>
          <p:nvPr/>
        </p:nvSpPr>
        <p:spPr>
          <a:xfrm>
            <a:off x="749808" y="3657600"/>
            <a:ext cx="347472" cy="347472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657600"/>
            <a:ext cx="347472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43584" y="3630168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03B71"/>
                </a:solidFill>
                <a:latin typeface="Aptos"/>
              </a:rPr>
              <a:t>WEEK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3630168"/>
            <a:ext cx="384048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A3441"/>
                </a:solidFill>
                <a:latin typeface="Aptos"/>
              </a:rPr>
              <a:t>Foundation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630168"/>
            <a:ext cx="132588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1000" b="1">
                <a:solidFill>
                  <a:srgbClr val="30A65C"/>
                </a:solidFill>
                <a:latin typeface="Aptos"/>
              </a:rPr>
              <a:t>COMPLETED</a:t>
            </a:r>
          </a:p>
        </p:txBody>
      </p:sp>
      <p:sp>
        <p:nvSpPr>
          <p:cNvPr id="32" name="Oval 31"/>
          <p:cNvSpPr/>
          <p:nvPr/>
        </p:nvSpPr>
        <p:spPr>
          <a:xfrm>
            <a:off x="749808" y="4251960"/>
            <a:ext cx="347472" cy="347472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51960"/>
            <a:ext cx="347472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3584" y="4224528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03B71"/>
                </a:solidFill>
                <a:latin typeface="Aptos"/>
              </a:rPr>
              <a:t>WEEK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224528"/>
            <a:ext cx="384048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A3441"/>
                </a:solidFill>
                <a:latin typeface="Aptos"/>
              </a:rPr>
              <a:t>Edge Cases &amp; Fallbacks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4224528"/>
            <a:ext cx="132588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1000" b="1">
                <a:solidFill>
                  <a:srgbClr val="646E7A"/>
                </a:solidFill>
                <a:latin typeface="Aptos"/>
              </a:rPr>
              <a:t>NEXT</a:t>
            </a:r>
          </a:p>
        </p:txBody>
      </p:sp>
      <p:sp>
        <p:nvSpPr>
          <p:cNvPr id="37" name="Oval 36"/>
          <p:cNvSpPr/>
          <p:nvPr/>
        </p:nvSpPr>
        <p:spPr>
          <a:xfrm>
            <a:off x="749808" y="4846320"/>
            <a:ext cx="347472" cy="347472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846320"/>
            <a:ext cx="347472" cy="34747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4818888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03B71"/>
                </a:solidFill>
                <a:latin typeface="Aptos"/>
              </a:rPr>
              <a:t>WEEK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48840" y="4818888"/>
            <a:ext cx="384048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2A3441"/>
                </a:solidFill>
                <a:latin typeface="Aptos"/>
              </a:rPr>
              <a:t>Voice Integration &amp; Evaluation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4818888"/>
            <a:ext cx="1325880" cy="2743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1000" b="1">
                <a:solidFill>
                  <a:srgbClr val="646E7A"/>
                </a:solidFill>
                <a:latin typeface="Aptos"/>
              </a:rPr>
              <a:t>UPCOMING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CAPABILITY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Key Learnings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481328"/>
            <a:ext cx="3310128" cy="123444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1828800"/>
            <a:ext cx="502920" cy="502920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728216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Conversational Flow 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43984" y="1481328"/>
            <a:ext cx="3310128" cy="123444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26864" y="1828800"/>
            <a:ext cx="502920" cy="502920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6864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2664" y="1728216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Secure Authentication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74736" y="1481328"/>
            <a:ext cx="3310128" cy="123444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7615" y="1828800"/>
            <a:ext cx="502920" cy="502920"/>
          </a:xfrm>
          <a:prstGeom prst="ellips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5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5" y="1728216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API Integration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3054096"/>
            <a:ext cx="3310128" cy="123444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96112" y="3401568"/>
            <a:ext cx="502920" cy="502920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3401568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3300984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CX Agent Studio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3984" y="3054096"/>
            <a:ext cx="3310128" cy="123444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26864" y="3401568"/>
            <a:ext cx="502920" cy="502920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3401568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2664" y="3300984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Intent Mapping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74736" y="3054096"/>
            <a:ext cx="3310128" cy="123444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57615" y="3401568"/>
            <a:ext cx="502920" cy="502920"/>
          </a:xfrm>
          <a:prstGeom prst="ellipse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7615" y="3401568"/>
            <a:ext cx="502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43415" y="3300984"/>
            <a:ext cx="2148840" cy="68580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003B71"/>
                </a:solidFill>
                <a:latin typeface="Aptos"/>
              </a:rPr>
              <a:t>Business Process Understanding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983480"/>
            <a:ext cx="9326880" cy="36576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646E7A"/>
                </a:solidFill>
                <a:latin typeface="Aptos"/>
              </a:rPr>
              <a:t>Week 1 strengthened both technical understanding and business-process thinking.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0" y="109728"/>
            <a:ext cx="502920" cy="502920"/>
          </a:xfrm>
          <a:prstGeom prst="rtTriangle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3200400" cy="20116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EE4E1D"/>
                </a:solidFill>
                <a:latin typeface="Aptos"/>
              </a:rPr>
              <a:t>PROJECT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10789920" cy="50292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003B71"/>
                </a:solidFill>
                <a:latin typeface="Aptos"/>
              </a:rPr>
              <a:t>Next Steps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133856"/>
            <a:ext cx="11109960" cy="0"/>
          </a:xfrm>
          <a:prstGeom prst="line">
            <a:avLst/>
          </a:prstGeom>
          <a:ln w="12700">
            <a:solidFill>
              <a:srgbClr val="DDE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6473952"/>
            <a:ext cx="5120640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750" b="0">
                <a:solidFill>
                  <a:srgbClr val="646E7A"/>
                </a:solidFill>
                <a:latin typeface="Aptos"/>
              </a:rPr>
              <a:t>©2026 EXL Service Holdings, Inc.  |  Insurance Voice Agent –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73952"/>
            <a:ext cx="164592" cy="16459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46E7A"/>
                </a:solidFill>
                <a:latin typeface="Apto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333756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417320"/>
            <a:ext cx="3337560" cy="566928"/>
          </a:xfrm>
          <a:prstGeom prst="roundRect">
            <a:avLst/>
          </a:prstGeom>
          <a:solidFill>
            <a:srgbClr val="30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545336"/>
            <a:ext cx="914400" cy="23774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12848"/>
            <a:ext cx="2834640" cy="38404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700" b="1">
                <a:solidFill>
                  <a:srgbClr val="003B71"/>
                </a:solidFill>
                <a:latin typeface="Aptos"/>
              </a:rPr>
              <a:t>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761488"/>
            <a:ext cx="2788920" cy="1417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A3441"/>
                </a:solidFill>
                <a:latin typeface="Aptos"/>
              </a:rPr>
              <a:t>Completed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31920" y="2926080"/>
            <a:ext cx="429768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61688" y="1417320"/>
            <a:ext cx="333756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61688" y="1417320"/>
            <a:ext cx="3337560" cy="566928"/>
          </a:xfrm>
          <a:prstGeom prst="round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545336"/>
            <a:ext cx="914400" cy="23774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2212848"/>
            <a:ext cx="2834640" cy="38404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700" b="1">
                <a:solidFill>
                  <a:srgbClr val="003B71"/>
                </a:solidFill>
                <a:latin typeface="Aptos"/>
              </a:rPr>
              <a:t>Edge Cases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61488"/>
            <a:ext cx="2788920" cy="1417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A3441"/>
                </a:solidFill>
                <a:latin typeface="Aptos"/>
              </a:rPr>
              <a:t>Failed authentication
Invalid Policy/Claim IDs
API failures &amp; fallbacks
Agent escalation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99248" y="2926080"/>
            <a:ext cx="429768" cy="0"/>
          </a:xfrm>
          <a:prstGeom prst="line">
            <a:avLst/>
          </a:prstGeom>
          <a:ln w="25400">
            <a:solidFill>
              <a:srgbClr val="00A3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29016" y="1417320"/>
            <a:ext cx="333756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B"/>
            </a:solidFill>
          </a:ln>
          <a:effectLst>
            <a:outerShdw blurRad="38100" dist="25400" dir="5400000" algn="ctr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9016" y="1417320"/>
            <a:ext cx="3337560" cy="566928"/>
          </a:xfrm>
          <a:prstGeom prst="round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1545336"/>
            <a:ext cx="914400" cy="23774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2212848"/>
            <a:ext cx="2834640" cy="38404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l"/>
            <a:r>
              <a:rPr sz="1700" b="1">
                <a:solidFill>
                  <a:srgbClr val="003B71"/>
                </a:solidFill>
                <a:latin typeface="Aptos"/>
              </a:rPr>
              <a:t>Voice &amp; 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2761488"/>
            <a:ext cx="2788920" cy="1417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A3441"/>
                </a:solidFill>
                <a:latin typeface="Aptos"/>
              </a:rPr>
              <a:t>Voice integration
End-to-end testing
KPI tracking
Production readiness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892040"/>
            <a:ext cx="10808208" cy="749808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047488"/>
            <a:ext cx="10332720" cy="438912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/>
            <a:r>
              <a:rPr sz="1250" b="0">
                <a:solidFill>
                  <a:srgbClr val="2A3441"/>
                </a:solidFill>
                <a:latin typeface="Aptos"/>
              </a:rPr>
              <a:t>Week 1 established the core architecture through secure authentication, intent definition, mock API integration and functional happy-path workflows—creating a strong base for production-ready enhancements.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320040" cy="6748272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09728"/>
            <a:ext cx="73152" cy="6748272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1051560"/>
            <a:ext cx="9784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50876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EE4E1D"/>
                </a:solidFill>
                <a:latin typeface="Aptos"/>
              </a:rPr>
              <a:t>WEEK 1 PROGRESS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71323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>
                <a:solidFill>
                  <a:srgbClr val="003B71"/>
                </a:solidFill>
                <a:latin typeface="Aptos Display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063240"/>
            <a:ext cx="7132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>
                <a:solidFill>
                  <a:srgbClr val="3D4A5A"/>
                </a:solidFill>
                <a:latin typeface="Aptos"/>
              </a:rPr>
              <a:t>Questions &amp; Discussion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3749039"/>
            <a:ext cx="1097280" cy="54864"/>
          </a:xfrm>
          <a:prstGeom prst="rect">
            <a:avLst/>
          </a:prstGeom>
          <a:solidFill>
            <a:srgbClr val="EE4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3749039"/>
            <a:ext cx="640080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40690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5D6A78"/>
                </a:solidFill>
                <a:latin typeface="Aptos"/>
              </a:rPr>
              <a:t>Team 5  |  EXL Internship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88620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3400" b="1">
                <a:solidFill>
                  <a:srgbClr val="EE4E1D"/>
                </a:solidFill>
                <a:latin typeface="Arial"/>
              </a:rPr>
              <a:t>EXL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6583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7A8592"/>
                </a:solidFill>
                <a:latin typeface="Aptos"/>
              </a:rPr>
              <a:t>©2026 EXL Service Holdings, Inc.  |  Insurance Voice Agent – Week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2026-06-15T16:09:02Z</dcterms:created>
  <dcterms:modified xsi:type="dcterms:W3CDTF">2026-06-15T16:09:02Z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2026-06-15T00:00:00Z</vt:filetime>
  </property>
  <property fmtid="{D5CDD505-2E9C-101B-9397-08002B2CF9AE}" pid="4" name="LastSaved">
    <vt:filetime>2026-06-15T00:00:00Z</vt:filetime>
  </property>
</Properties>
</file>